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Claude Plugins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D2DC"/>
                </a:solidFill>
              </a:defRPr>
            </a:pPr>
            <a:r>
              <a:t>Plugin cho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EC8"/>
                </a:solidFill>
              </a:defRPr>
            </a:pPr>
            <a:r>
              <a:t>Extend Claude Code with Skills, Agents &amp;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AB4"/>
                </a:solidFill>
              </a:defRPr>
            </a:pPr>
            <a:r>
              <a:t>Mở rộng Claude Code với Skills, Agents và MCP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75E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86C1"/>
                </a:solidFill>
              </a:defRPr>
            </a:pPr>
            <a:r>
              <a:t>Nội dung trình bày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828800" cy="3810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1. What are Claude Plugins?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Claude Plugins là gì?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2. Plugin Components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Các thành phần của Plugin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3. Plugin Structure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Cấu trúc Plugin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4. How to Build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Cách xây dựng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5. Strengths &amp; Weaknesses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Điểm mạnh và điểm yếu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6. Best Practices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Các thực hành tốt nhất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75E"/>
                </a:solidFill>
              </a:defRPr>
            </a:pPr>
            <a:r>
              <a:t>What are Claude Plugins?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86C1"/>
                </a:solidFill>
              </a:defRPr>
            </a:pPr>
            <a:r>
              <a:t>Claude Plugins là gì?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828800" cy="3810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Bundle tools, skills, integrations for one-click install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Gói công cụ, kỹ năng, tích hợp cài đặt 1-click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Extensions for Claude Code &amp; Claude Cowork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Phần mở rộng cho Claude Code &amp; Cowork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10,000+ plugins available in marketplace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10,000+ plugin có sẵn trên marketplace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Extend AI capabilities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Mở rộng khả năng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75E"/>
                </a:solidFill>
              </a:defRPr>
            </a:pPr>
            <a:r>
              <a:t>Plugin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86C1"/>
                </a:solidFill>
              </a:defRPr>
            </a:pPr>
            <a:r>
              <a:t>Các thành phần của Plugin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Description EN</a:t>
                      </a:r>
                    </a:p>
                  </a:txBody>
                  <a:tcPr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Mô tả VI</a:t>
                      </a:r>
                    </a:p>
                  </a:txBody>
                  <a:tcPr>
                    <a:solidFill>
                      <a:srgbClr val="1737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Skills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Auto-apply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Hướng dẫn tự động áp dụng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Commands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Slash commands /cmd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Lệnh slash /cmd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Custom sub-agents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Sub-agents tùy chỉnh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Hooks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Event handlers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Xử lý sự kiện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External API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Tích hợp API bên ngoài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LSP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Code intelligence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Thông minh mã nguồn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75E"/>
                </a:solidFill>
              </a:defRPr>
            </a:pPr>
            <a:r>
              <a:t>Skills vs MCP Servers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86C1"/>
                </a:solidFill>
              </a:defRPr>
            </a:pPr>
            <a:r>
              <a:t>So sánh Skills và MCP Servers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7AE60"/>
                </a:solidFill>
              </a:defRPr>
            </a:pPr>
            <a:r>
              <a:t>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Knowledge, guidelines, workflows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Kiến thức, hướng dẫn, quy trình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Claude auto-detects context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Claude tự nhận biết context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Static instructions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Hướng dẫn tĩnh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Example: Code review rules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Ví dụ: Quy tắc review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MCP 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External data, APIs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Dữ liệu bên ngoài, APIs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Explicit tool calls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Gọi tool cụ thể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Dynamic real-time data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Dữ liệu động thời gian thực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Example: Query database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Ví dụ: Truy vấn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375E"/>
                </a:solidFill>
              </a:defRPr>
            </a:pPr>
            <a:r>
              <a:t>Plugin Directory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E86C1"/>
                </a:solidFill>
              </a:defRPr>
            </a:pPr>
            <a:r>
              <a:t>Cấu trúc thư mục Plugin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400">
                <a:solidFill>
                  <a:srgbClr val="DCDCDC"/>
                </a:solidFill>
                <a:latin typeface="Consolas"/>
              </a:defRPr>
            </a:pPr>
            <a:r>
              <a:t>my-plugin/</a:t>
            </a:r>
            <a:br/>
            <a:r>
              <a:t>|</a:t>
            </a:r>
            <a:br/>
            <a:r>
              <a:t>+-- .claude-plugin/</a:t>
            </a:r>
            <a:br/>
            <a:r>
              <a:t>|   +-- plugin.json        # Manifest (REQUIRED / BẮT BUỘC)</a:t>
            </a:r>
            <a:br/>
            <a:r>
              <a:t>|</a:t>
            </a:r>
            <a:br/>
            <a:r>
              <a:t>+-- skills/                # Model-invoked skills</a:t>
            </a:r>
            <a:br/>
            <a:r>
              <a:t>|   +-- code-review/</a:t>
            </a:r>
            <a:br/>
            <a:r>
              <a:t>|       +-- SKILL.md</a:t>
            </a:r>
            <a:br/>
            <a:r>
              <a:t>|</a:t>
            </a:r>
            <a:br/>
            <a:r>
              <a:t>+-- commands/              # Slash commands</a:t>
            </a:r>
            <a:br/>
            <a:r>
              <a:t>|   +-- deploy.md</a:t>
            </a:r>
            <a:br/>
            <a:r>
              <a:t>|</a:t>
            </a:r>
            <a:br/>
            <a:r>
              <a:t>+-- agents/                # Custom agents</a:t>
            </a:r>
            <a:br/>
            <a:r>
              <a:t>|   +-- reviewer.md</a:t>
            </a:r>
            <a:br/>
            <a:r>
              <a:t>|</a:t>
            </a:r>
            <a:br/>
            <a:r>
              <a:t>+-- hooks/</a:t>
            </a:r>
            <a:br/>
            <a:r>
              <a:t>|   +-- hooks.json         # Event handlers</a:t>
            </a:r>
            <a:br/>
            <a:r>
              <a:t>|</a:t>
            </a:r>
            <a:br/>
            <a:r>
              <a:t>+-- .mcp.json              # MCP server configs</a:t>
            </a:r>
            <a:br/>
            <a:r>
              <a:t>|</a:t>
            </a:r>
            <a:br/>
            <a:r>
              <a:t>+-- README.md</a:t>
            </a:r>
            <a:br/>
            <a:br/>
            <a:br/>
            <a:r>
              <a:t>NOTE: Directories at ROOT level, NOT inside .claude-plugin/</a:t>
            </a:r>
            <a:br/>
            <a:r>
              <a:t>LƯU Ý: Các thư mục ở ROOT, KHÔNG đặt trong .claude-plugin/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375E"/>
                </a:solidFill>
              </a:defRPr>
            </a:pPr>
            <a:r>
              <a:t>Plugin Manifest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E86C1"/>
                </a:solidFill>
              </a:defRPr>
            </a:pPr>
            <a:r>
              <a:t>File plugin.json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400">
                <a:solidFill>
                  <a:srgbClr val="DCDCDC"/>
                </a:solidFill>
                <a:latin typeface="Consolas"/>
              </a:defRPr>
            </a:pPr>
            <a:r>
              <a:t>{</a:t>
            </a:r>
            <a:br/>
            <a:r>
              <a:t>  "name": "my-plugin",</a:t>
            </a:r>
            <a:br/>
            <a:r>
              <a:t>  "description": "Short description of the plugin",</a:t>
            </a:r>
            <a:br/>
            <a:r>
              <a:t>  "version": "1.0.0",</a:t>
            </a:r>
            <a:br/>
            <a:r>
              <a:t>  "author": {</a:t>
            </a:r>
            <a:br/>
            <a:r>
              <a:t>    "name": "Your Name",</a:t>
            </a:r>
            <a:br/>
            <a:r>
              <a:t>    "email": "email@example.com"</a:t>
            </a:r>
            <a:br/>
            <a:r>
              <a:t>  },</a:t>
            </a:r>
            <a:br/>
            <a:r>
              <a:t>  "homepage": "https://...",</a:t>
            </a:r>
            <a:br/>
            <a:r>
              <a:t>  "repository": "https://github.com/...",</a:t>
            </a:r>
            <a:br/>
            <a:r>
              <a:t>  "license": "MIT"</a:t>
            </a:r>
            <a:br/>
            <a:r>
              <a:t>}</a:t>
            </a:r>
            <a:br/>
            <a:br/>
            <a:br/>
            <a:r>
              <a:t>KEY POINTS / ĐIỂM CHÍNH:</a:t>
            </a:r>
            <a:br/>
            <a:br/>
            <a:r>
              <a:t>- name --&gt; Namespace for skills: /my-plugin:hello</a:t>
            </a:r>
            <a:br/>
            <a:r>
              <a:t>         Namespace cho skills: /my-plugin:hello</a:t>
            </a:r>
            <a:br/>
            <a:br/>
            <a:r>
              <a:t>- version --&gt; Semantic versioning (major.minor.patch)</a:t>
            </a:r>
            <a:br/>
            <a:r>
              <a:t>              Phiên bản ngữ nghĩa</a:t>
            </a:r>
            <a:br/>
            <a:br/>
            <a:r>
              <a:t>- description --&gt; Shown in plugin manager</a:t>
            </a:r>
            <a:br/>
            <a:r>
              <a:t>                  Hiển thị trong plugin manager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375E"/>
                </a:solidFill>
              </a:defRPr>
            </a:pPr>
            <a:r>
              <a:t>Writing Skills (SKILL.md)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E86C1"/>
                </a:solidFill>
              </a:defRPr>
            </a:pPr>
            <a:r>
              <a:t>Viết Skills (SKILL.md)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400">
                <a:solidFill>
                  <a:srgbClr val="DCDCDC"/>
                </a:solidFill>
                <a:latin typeface="Consolas"/>
              </a:defRPr>
            </a:pPr>
            <a:r>
              <a:t>---</a:t>
            </a:r>
            <a:br/>
            <a:r>
              <a:t>name: code-review</a:t>
            </a:r>
            <a:br/>
            <a:r>
              <a:t>description: Review code for security issues and best practices.</a:t>
            </a:r>
            <a:br/>
            <a:r>
              <a:t>             Use when checking PRs or reviewing code changes.</a:t>
            </a:r>
            <a:br/>
            <a:r>
              <a:t>---</a:t>
            </a:r>
            <a:br/>
            <a:br/>
            <a:r>
              <a:t>When reviewing code, check for:</a:t>
            </a:r>
            <a:br/>
            <a:br/>
            <a:r>
              <a:t>1. SQL injection vulnerabilities</a:t>
            </a:r>
            <a:br/>
            <a:r>
              <a:t>2. XSS (Cross-site scripting)</a:t>
            </a:r>
            <a:br/>
            <a:r>
              <a:t>3. Authentication issues</a:t>
            </a:r>
            <a:br/>
            <a:r>
              <a:t>4. Input validation</a:t>
            </a:r>
            <a:br/>
            <a:r>
              <a:t>5. Error handling</a:t>
            </a:r>
            <a:br/>
            <a:br/>
            <a:br/>
            <a:r>
              <a:t>IMPORTANT / QUAN TRỌNG:</a:t>
            </a:r>
            <a:br/>
            <a:br/>
            <a:r>
              <a:t>- description = trigger mechanism!</a:t>
            </a:r>
            <a:br/>
            <a:r>
              <a:t>  description = cơ chế kích hoạt!</a:t>
            </a:r>
            <a:br/>
            <a:br/>
            <a:r>
              <a:t>- Write clear, specific descriptions</a:t>
            </a:r>
            <a:br/>
            <a:r>
              <a:t>  Viết mô tả rõ ràng, cụ thể</a:t>
            </a:r>
            <a:br/>
            <a:br/>
            <a:r>
              <a:t>- Claude will auto-apply when context matches</a:t>
            </a:r>
            <a:br/>
            <a:r>
              <a:t>  Claude tự động áp dụng khi context phù hợp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375E"/>
                </a:solidFill>
              </a:defRPr>
            </a:pPr>
            <a:r>
              <a:t>Writing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E86C1"/>
                </a:solidFill>
              </a:defRPr>
            </a:pPr>
            <a:r>
              <a:t>Viết Hooks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400">
                <a:solidFill>
                  <a:srgbClr val="DCDCDC"/>
                </a:solidFill>
                <a:latin typeface="Consolas"/>
              </a:defRPr>
            </a:pPr>
            <a:r>
              <a:t>// hooks/hooks.json</a:t>
            </a:r>
            <a:br/>
            <a:br/>
            <a:r>
              <a:t>{</a:t>
            </a:r>
            <a:br/>
            <a:r>
              <a:t>  "hooks": {</a:t>
            </a:r>
            <a:br/>
            <a:r>
              <a:t>    "PostToolUse": [</a:t>
            </a:r>
            <a:br/>
            <a:r>
              <a:t>      {</a:t>
            </a:r>
            <a:br/>
            <a:r>
              <a:t>        "matcher": "Write|Edit",</a:t>
            </a:r>
            <a:br/>
            <a:r>
              <a:t>        "hooks": [</a:t>
            </a:r>
            <a:br/>
            <a:r>
              <a:t>          {</a:t>
            </a:r>
            <a:br/>
            <a:r>
              <a:t>            "type": "command",</a:t>
            </a:r>
            <a:br/>
            <a:r>
              <a:t>            "command": "npm run lint:fix"</a:t>
            </a:r>
            <a:br/>
            <a:r>
              <a:t>          }</a:t>
            </a:r>
            <a:br/>
            <a:r>
              <a:t>        ]</a:t>
            </a:r>
            <a:br/>
            <a:r>
              <a:t>      }</a:t>
            </a:r>
            <a:br/>
            <a:r>
              <a:t>    ]</a:t>
            </a:r>
            <a:br/>
            <a:r>
              <a:t>  }</a:t>
            </a:r>
            <a:br/>
            <a:r>
              <a:t>}</a:t>
            </a:r>
            <a:br/>
            <a:br/>
            <a:br/>
            <a:r>
              <a:t>AVAILABLE EVENTS / CÁC SỰ KIỆN:</a:t>
            </a:r>
            <a:br/>
            <a:br/>
            <a:r>
              <a:t>- PreToolUse   : Before tool runs / Trước khi tool chạy</a:t>
            </a:r>
            <a:br/>
            <a:r>
              <a:t>- PostToolUse  : After tool runs / Sau khi tool chạy</a:t>
            </a:r>
            <a:br/>
            <a:r>
              <a:t>- Notification : On notification / Khi có thông báo</a:t>
            </a:r>
            <a:br/>
            <a:r>
              <a:t>- Stop         : Session ends / Khi kết thúc session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375E"/>
                </a:solidFill>
              </a:defRPr>
            </a:pPr>
            <a:r>
              <a:t>Installation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E86C1"/>
                </a:solidFill>
              </a:defRPr>
            </a:pPr>
            <a:r>
              <a:t>Cài đặt và Kiểm tra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400">
                <a:solidFill>
                  <a:srgbClr val="DCDCDC"/>
                </a:solidFill>
                <a:latin typeface="Consolas"/>
              </a:defRPr>
            </a:pPr>
            <a:r>
              <a:t># From official marketplace / Từ marketplace chính thức</a:t>
            </a:r>
            <a:br/>
            <a:r>
              <a:t>claude plugin add @anthropic/github</a:t>
            </a:r>
            <a:br/>
            <a:br/>
            <a:r>
              <a:t># From GitHub repository / Từ GitHub</a:t>
            </a:r>
            <a:br/>
            <a:r>
              <a:t>claude plugin add github:username/repo-name</a:t>
            </a:r>
            <a:br/>
            <a:br/>
            <a:r>
              <a:t># From local directory / Từ thư mục local</a:t>
            </a:r>
            <a:br/>
            <a:r>
              <a:t>claude plugin add ./my-plugin</a:t>
            </a:r>
            <a:br/>
            <a:br/>
            <a:r>
              <a:t># Test during development / Test trong quá trình phát triển</a:t>
            </a:r>
            <a:br/>
            <a:r>
              <a:t>claude --plugin-dir ./my-plugin</a:t>
            </a:r>
            <a:br/>
            <a:br/>
            <a:r>
              <a:t># Reload after changes / Reload sau khi thay đổi</a:t>
            </a:r>
            <a:br/>
            <a:r>
              <a:t>/reload-plugins</a:t>
            </a:r>
            <a:br/>
            <a:br/>
            <a:br/>
            <a:r>
              <a:t>TIP: Use --plugin-dir to test before publishing</a:t>
            </a:r>
            <a:br/>
            <a:r>
              <a:t>GỢI Ý: Dùng --plugin-dir để test trước khi publish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75E"/>
                </a:solidFill>
              </a:defRPr>
            </a:pPr>
            <a:r>
              <a:t>Strengths vs Weaknesses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86C1"/>
                </a:solidFill>
              </a:defRPr>
            </a:pPr>
            <a:r>
              <a:t>Điểm mạnh vs Điểm yếu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7AE60"/>
                </a:solidFill>
              </a:defRPr>
            </a:pPr>
            <a:r>
              <a:t>Strengths / Điểm mạnh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One-click install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Cài đặt 1-click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Namespaced - avoid conflicts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Namespace - tránh xung đột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Versioned - easy updates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Có phiên bản - dễ cập nhật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Hot reload (/reload-plugins)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Reload nóng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Shareable - team/community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Chia sẻ được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Large ecosystem (10K+ plugins)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Ecosystem lớn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Weaknesses / Điểm yếu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Learning curve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Cần thời gian học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Long namespace (/plugin:skill)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Namespace dài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Debugging difficult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Debug khó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Dependency management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Quản lý dependency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Limited documentation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Tài liệu còn hạn chế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Ecosystem still new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Ecosystem còn mới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75E"/>
                </a:solidFill>
              </a:defRPr>
            </a:pPr>
            <a:r>
              <a:t>Standalone vs Plugin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86C1"/>
                </a:solidFill>
              </a:defRPr>
            </a:pPr>
            <a:r>
              <a:t>Độc lập vs Plugin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Skill Name</a:t>
                      </a:r>
                    </a:p>
                  </a:txBody>
                  <a:tcPr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Best For EN</a:t>
                      </a:r>
                    </a:p>
                  </a:txBody>
                  <a:tcPr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Phù hợp VI</a:t>
                      </a:r>
                    </a:p>
                  </a:txBody>
                  <a:tcPr>
                    <a:solidFill>
                      <a:srgbClr val="1737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Standalone (.claude/)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/hello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Personal, experiments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Cá nhân, thử nghiệm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Plugin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/plugin:hello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Share, versioned, team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Chia sẻ, phiên bản, team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75E"/>
                </a:solidFill>
              </a:defRPr>
            </a:pPr>
            <a: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86C1"/>
                </a:solidFill>
              </a:defRPr>
            </a:pPr>
            <a:r>
              <a:t>Các thực hành tốt nhất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7AE60"/>
                </a:solidFill>
              </a:defRPr>
            </a:pPr>
            <a:r>
              <a:t>DO / NÊN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Write clear, specific descriptions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Viết mô tả rõ ràng, cụ thể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Test with --plugin-dir first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Test với --plugin-dir trước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Use semantic versioning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Dùng semantic versioning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Include README.md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Bao gồm README.md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Handle errors gracefully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Xử lý lỗi tốt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DON'T / KHÔNG NÊN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Put dirs inside .claude-plugin/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Đặt thư mục trong .claude-plugin/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Write vague descriptions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Viết mô tả mơ hồ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Hardcode secrets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Hardcode secrets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Skip testing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Bỏ qua testing</a:t>
            </a:r>
          </a:p>
          <a:p>
            <a:pPr>
              <a:spcAft>
                <a:spcPts val="100"/>
              </a:spcAft>
              <a:defRPr sz="1600" b="1">
                <a:solidFill>
                  <a:srgbClr val="323232"/>
                </a:solidFill>
              </a:defRPr>
            </a:pPr>
            <a:r>
              <a:t>Make skills too broad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Tạo skills quá rộng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75E"/>
                </a:solidFill>
              </a:defRPr>
            </a:pPr>
            <a:r>
              <a:t>Submit to Marketplace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86C1"/>
                </a:solidFill>
              </a:defRPr>
            </a:pPr>
            <a:r>
              <a:t>Gửi lên Marketplace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828800" cy="3810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Submission URLs: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Đường dẫn gửi: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  - claude.ai/settings/plugins/submit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  - platform.claude.com/plugins/submit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Requirements: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Yêu cầu: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  - Complete documentation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  - Tài liệu đầy đủ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  - Clear use case description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  - Mô tả use case rõ ràng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  - No security issues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  - Không có vấn đề bảo mật</a:t>
            </a:r>
          </a:p>
          <a:p>
            <a:pPr>
              <a:spcAft>
                <a:spcPts val="200"/>
              </a:spcAft>
              <a:defRPr sz="2200" b="1">
                <a:solidFill>
                  <a:srgbClr val="323232"/>
                </a:solidFill>
              </a:defRPr>
            </a:pPr>
            <a:r>
              <a:t>  - Follow plugin guidelines</a:t>
            </a:r>
          </a:p>
          <a:p>
            <a:pPr>
              <a:spcAft>
                <a:spcPts val="1400"/>
              </a:spcAft>
              <a:defRPr sz="1800">
                <a:solidFill>
                  <a:srgbClr val="646464"/>
                </a:solidFill>
              </a:defRPr>
            </a:pPr>
            <a:r>
              <a:t>  - Tuân thủ hướng dẫn plugin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B4BEC8"/>
                </a:solidFill>
              </a:defRPr>
            </a:pPr>
            <a:r>
              <a:t>Hỏi Đáp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AB4"/>
                </a:solidFill>
              </a:defRPr>
            </a:pPr>
            <a:r>
              <a:t>claude.com/plugins</a:t>
            </a:r>
          </a:p>
          <a:p>
            <a:pPr algn="ctr">
              <a:defRPr sz="1800">
                <a:solidFill>
                  <a:srgbClr val="A0AAB4"/>
                </a:solidFill>
              </a:defRPr>
            </a:pPr>
            <a:r>
              <a:t>code.claude.com/docs/en/plugins</a:t>
            </a:r>
          </a:p>
          <a:p>
            <a:pPr algn="ctr">
              <a:defRPr sz="1800">
                <a:solidFill>
                  <a:srgbClr val="A0AAB4"/>
                </a:solidFill>
              </a:defRPr>
            </a:pPr>
            <a:r>
              <a:t>github.com/anthropics/claude-code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